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projeto e a equipe. Uma frase: vigilância comunitária de risco de arbovirose.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pela ODS 3 e pela meta 3.3. O morador vê o foco primeiro, mas a informação não chegava ao poder público de forma utilizável. Fechar com o número de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o objetivo geral e passar rápido pelos quatro específicos. O índice de risco é o diferencial.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não é falta de informação, é falta de organização, de coordenada e de retorno ao morador.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etapas, do diagnóstico ao piloto. A stack fica na linha de baixo, sem entrar em detalhe.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etapas de fevereiro a agosto, cada uma com entrega definida.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Quase toda a base é software livre ou dado público. O custo previsto fica em torno de quatrocentos e trinta reais no 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utilizadas: ODS 3, LIRAa e dados do Ministério da Saúde.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092518"/>
            <a:ext cx="533400" cy="9525"/>
          </a:xfrm>
          <a:prstGeom prst="rect">
            <a:avLst/>
          </a:prstGeom>
          <a:solidFill>
            <a:srgbClr val="3F7D54"/>
          </a:solidFill>
          <a:ln/>
        </p:spPr>
      </p:sp>
      <p:sp>
        <p:nvSpPr>
          <p:cNvPr id="3" name="Text 1"/>
          <p:cNvSpPr/>
          <p:nvPr/>
        </p:nvSpPr>
        <p:spPr>
          <a:xfrm>
            <a:off x="1695450" y="952500"/>
            <a:ext cx="406775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390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INTEGRADOR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52500" y="2809161"/>
            <a:ext cx="18021300" cy="15101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37"/>
              </a:lnSpc>
              <a:buNone/>
            </a:pPr>
            <a:r>
              <a:rPr lang="en-US" sz="12600" spc="-252" kern="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Sentinela Urbano</a:t>
            </a:r>
            <a:endParaRPr lang="en-US" sz="12600" dirty="0"/>
          </a:p>
        </p:txBody>
      </p:sp>
      <p:sp>
        <p:nvSpPr>
          <p:cNvPr id="5" name="Text 3"/>
          <p:cNvSpPr/>
          <p:nvPr/>
        </p:nvSpPr>
        <p:spPr>
          <a:xfrm>
            <a:off x="952500" y="4662249"/>
            <a:ext cx="12753975" cy="1325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89"/>
              </a:lnSpc>
              <a:buNone/>
            </a:pPr>
            <a:r>
              <a:rPr lang="en-US" sz="3900" i="1" dirty="0">
                <a:solidFill>
                  <a:srgbClr val="3F5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Vigilância comunitária de risco de arbovirose, construída sobre registros feitos pelo próprio morador.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52500" y="7517130"/>
            <a:ext cx="16383000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8039100"/>
            <a:ext cx="2183511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94760" y="7962900"/>
            <a:ext cx="5568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Vitor Rodrigues Alves Medeiros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714429" y="7962900"/>
            <a:ext cx="5568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 Rodrigues de Souza Teles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794760" y="8477250"/>
            <a:ext cx="5568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Luiz Gustavo Andrade França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14429" y="8477250"/>
            <a:ext cx="5568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Silva Santos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794760" y="8991600"/>
            <a:ext cx="55686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651"/>
              </a:lnSpc>
              <a:buNone/>
            </a:pPr>
            <a:r>
              <a:rPr lang="en-US" sz="225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 Carvalho Fonseca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INTRODUÇÃO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4716125" cy="17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6600" spc="-99" kern="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risco que o morador vê antes de todo mundo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52500" y="3817620"/>
            <a:ext cx="7762875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4072890"/>
            <a:ext cx="7995761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escolheu a ODS 3, Saúde e Bem-Estar, e adotou a meta 3.3, que trata do combate às doenças tropicais negligenciadas e às doenças transmitidas pela água.</a:t>
            </a:r>
            <a:endParaRPr lang="en-US" sz="2175" dirty="0"/>
          </a:p>
        </p:txBody>
      </p:sp>
      <p:sp>
        <p:nvSpPr>
          <p:cNvPr id="6" name="Shape 4"/>
          <p:cNvSpPr/>
          <p:nvPr/>
        </p:nvSpPr>
        <p:spPr>
          <a:xfrm>
            <a:off x="9572625" y="3817620"/>
            <a:ext cx="7762875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7" name="Text 5"/>
          <p:cNvSpPr/>
          <p:nvPr/>
        </p:nvSpPr>
        <p:spPr>
          <a:xfrm>
            <a:off x="9572625" y="4072890"/>
            <a:ext cx="7995761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Identificamos que quem enxerga primeiro o pneu com água, o terreno virando depósito de entulho ou o esgoto na rua é o próprio morador, mas essa informação raramente chegava ao poder público de forma utilizável.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52500" y="6094095"/>
            <a:ext cx="7762875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6349365"/>
            <a:ext cx="7995761" cy="1239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canais existentes exigiam ligação em horário comercial e não geravam registro com foto, coordenada ou protocolo.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572625" y="6094095"/>
            <a:ext cx="7762875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11" name="Text 9"/>
          <p:cNvSpPr/>
          <p:nvPr/>
        </p:nvSpPr>
        <p:spPr>
          <a:xfrm>
            <a:off x="9572625" y="6349365"/>
            <a:ext cx="7995761" cy="1239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de endemias fazia varredura por rotina, quarteirão por quarteirão, sem saber de antemão onde estavam os focos.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952500" y="8210550"/>
            <a:ext cx="1476375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8599170"/>
            <a:ext cx="15206662" cy="963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118"/>
              </a:lnSpc>
              <a:buNone/>
            </a:pPr>
            <a:r>
              <a:rPr lang="en-US" sz="2700" dirty="0">
                <a:solidFill>
                  <a:srgbClr val="3F5A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2024 o Brasil registrou cerca de 6,6 milhões de casos prováveis de dengue e 6.022 mortes, o pior resultado da série histórica.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OBJETIVO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6600" spc="-99" kern="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será desenvolvido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52500" y="3051810"/>
            <a:ext cx="16383000" cy="3087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547110"/>
            <a:ext cx="16764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4023360"/>
            <a:ext cx="15697200" cy="1658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315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Desenvolver uma aplicação web e mobile, no formato PWA, para registro colaborativo de riscos ambientais à saúde, com índice de risco por ocorrência, mapa público e alerta automático ao órgão responsável.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52500" y="7648575"/>
            <a:ext cx="3724275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7922895"/>
            <a:ext cx="3836003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 ocorrência com foto, coordenada e data em menos de um minuto.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5172075" y="7648575"/>
            <a:ext cx="3724275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10" name="Text 8"/>
          <p:cNvSpPr/>
          <p:nvPr/>
        </p:nvSpPr>
        <p:spPr>
          <a:xfrm>
            <a:off x="5172075" y="7922895"/>
            <a:ext cx="3836003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um índice de risco por ocorrência, em vez de simples densidade.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9391650" y="7648575"/>
            <a:ext cx="3724275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12" name="Text 10"/>
          <p:cNvSpPr/>
          <p:nvPr/>
        </p:nvSpPr>
        <p:spPr>
          <a:xfrm>
            <a:off x="9391650" y="7922895"/>
            <a:ext cx="3836003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Encaminhar o alerta ao setor competente e acompanhar o caso por protocolo.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13611225" y="7648575"/>
            <a:ext cx="3724275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14" name="Text 12"/>
          <p:cNvSpPr/>
          <p:nvPr/>
        </p:nvSpPr>
        <p:spPr>
          <a:xfrm>
            <a:off x="13611225" y="7922895"/>
            <a:ext cx="3836003" cy="1640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o índice gerado pela comunidade contra o LIRAa do mesmo setor.</a:t>
            </a:r>
            <a:endParaRPr lang="en-US" sz="21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JUSTIFICATIVA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5206662" cy="1798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6600" spc="-99" kern="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 problema não é falta de informação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52500" y="5174456"/>
            <a:ext cx="5016461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5486876"/>
            <a:ext cx="5166954" cy="88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04"/>
              </a:lnSpc>
              <a:buNone/>
            </a:pPr>
            <a:r>
              <a:rPr lang="en-US" sz="255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informação existe, mas dispersa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6519386"/>
            <a:ext cx="5166954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 está com os moradores e não é coletada de forma organizada.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6635711" y="5174456"/>
            <a:ext cx="5016461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8" name="Text 6"/>
          <p:cNvSpPr/>
          <p:nvPr/>
        </p:nvSpPr>
        <p:spPr>
          <a:xfrm>
            <a:off x="6635711" y="5486876"/>
            <a:ext cx="5166954" cy="88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04"/>
              </a:lnSpc>
              <a:buNone/>
            </a:pPr>
            <a:r>
              <a:rPr lang="en-US" sz="255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sem coordenada não vira rota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35711" y="6519386"/>
            <a:ext cx="5166954" cy="1239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existe hoje fica em papel ou planilha e por isso não vira mapa nem prioridade de visita.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2318921" y="5174456"/>
            <a:ext cx="5016461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11" name="Text 9"/>
          <p:cNvSpPr/>
          <p:nvPr/>
        </p:nvSpPr>
        <p:spPr>
          <a:xfrm>
            <a:off x="12318921" y="5486876"/>
            <a:ext cx="5166954" cy="880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04"/>
              </a:lnSpc>
              <a:buNone/>
            </a:pPr>
            <a:r>
              <a:rPr lang="en-US" sz="255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retorno, o morador desiste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318921" y="6519386"/>
            <a:ext cx="5166954" cy="1239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149"/>
              </a:lnSpc>
              <a:buNone/>
            </a:pPr>
            <a:r>
              <a:rPr lang="en-US" sz="2175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pessoa que avisa e não vê providência é uma pessoa a menos avisando no ano seguinte.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52500" y="8444865"/>
            <a:ext cx="15697200" cy="1118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125"/>
              </a:lnSpc>
              <a:buNone/>
            </a:pPr>
            <a:r>
              <a:rPr lang="en-US" sz="3150" i="1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resposta reativa custa mais caro que a prevenção, em internação, em afastamento e em mutirão emergencial.</a:t>
            </a:r>
            <a:endParaRPr lang="en-US" sz="3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METODOLOGIA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6600" spc="-99" kern="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sistema será construído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52500" y="4034314"/>
            <a:ext cx="2941320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4308634"/>
            <a:ext cx="32354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4500" dirty="0">
                <a:solidFill>
                  <a:srgbClr val="A6B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52500" y="5032534"/>
            <a:ext cx="323545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85"/>
              </a:lnSpc>
              <a:buNone/>
            </a:pPr>
            <a:r>
              <a:rPr lang="en-US" sz="2325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952500" y="5554028"/>
            <a:ext cx="3029560" cy="1529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Conversas com agentes de endemias e com a Secretaria de Saúde.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4312920" y="4034314"/>
            <a:ext cx="2941320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9" name="Text 7"/>
          <p:cNvSpPr/>
          <p:nvPr/>
        </p:nvSpPr>
        <p:spPr>
          <a:xfrm>
            <a:off x="4312920" y="4308634"/>
            <a:ext cx="32354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4500" dirty="0">
                <a:solidFill>
                  <a:srgbClr val="A6B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4312920" y="5032534"/>
            <a:ext cx="323545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85"/>
              </a:lnSpc>
              <a:buNone/>
            </a:pPr>
            <a:r>
              <a:rPr lang="en-US" sz="2325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4312920" y="5554028"/>
            <a:ext cx="3029560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ocorrência, protótipo de telas e modelagem do banco.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7673340" y="4034314"/>
            <a:ext cx="2941320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13" name="Text 11"/>
          <p:cNvSpPr/>
          <p:nvPr/>
        </p:nvSpPr>
        <p:spPr>
          <a:xfrm>
            <a:off x="7673340" y="4308634"/>
            <a:ext cx="32354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4500" dirty="0">
                <a:solidFill>
                  <a:srgbClr val="A6B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7673340" y="5032534"/>
            <a:ext cx="323545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85"/>
              </a:lnSpc>
              <a:buNone/>
            </a:pPr>
            <a:r>
              <a:rPr lang="en-US" sz="2325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7673340" y="5554028"/>
            <a:ext cx="3029560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Formulário, mapa, painel do agente e módulo de alerta.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1033760" y="4034314"/>
            <a:ext cx="2941320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17" name="Text 15"/>
          <p:cNvSpPr/>
          <p:nvPr/>
        </p:nvSpPr>
        <p:spPr>
          <a:xfrm>
            <a:off x="11033760" y="4308634"/>
            <a:ext cx="32354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4500" dirty="0">
                <a:solidFill>
                  <a:srgbClr val="A6B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11033760" y="5032534"/>
            <a:ext cx="323545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85"/>
              </a:lnSpc>
              <a:buNone/>
            </a:pPr>
            <a:r>
              <a:rPr lang="en-US" sz="2325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11033760" y="5554028"/>
            <a:ext cx="3029560" cy="1156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com moradores e agentes, com ajuste do que travar no uso.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4394181" y="4034314"/>
            <a:ext cx="2941320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21" name="Text 19"/>
          <p:cNvSpPr/>
          <p:nvPr/>
        </p:nvSpPr>
        <p:spPr>
          <a:xfrm>
            <a:off x="14394181" y="4308634"/>
            <a:ext cx="32354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235"/>
              </a:lnSpc>
              <a:buNone/>
            </a:pPr>
            <a:r>
              <a:rPr lang="en-US" sz="4500" dirty="0">
                <a:solidFill>
                  <a:srgbClr val="A6B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14394181" y="5032534"/>
            <a:ext cx="323545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85"/>
              </a:lnSpc>
              <a:buNone/>
            </a:pPr>
            <a:r>
              <a:rPr lang="en-US" sz="2325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14394181" y="5554028"/>
            <a:ext cx="3029560" cy="2275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81"/>
              </a:lnSpc>
              <a:buNone/>
            </a:pPr>
            <a:r>
              <a:rPr lang="en-US" sz="2025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em área delimitada, com divulgação junto à escola, à UBS e à associação de moradores.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52500" y="8401050"/>
            <a:ext cx="16383000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8808720"/>
            <a:ext cx="2458022" cy="304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TÉCNICA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20465" y="8751570"/>
            <a:ext cx="14023486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875"/>
              </a:lnSpc>
              <a:buNone/>
            </a:pPr>
            <a:r>
              <a:rPr lang="en-US" sz="21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com registro offline, API REST, PostgreSQL com PostGIS, Leaflet sobre OpenStreetMap, notificação por SMTP e por API de mensagens.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CRONOGRAMA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6600" spc="-99" kern="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cada etapa acontece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52500" y="4130040"/>
            <a:ext cx="16383000" cy="9525"/>
          </a:xfrm>
          <a:prstGeom prst="rect">
            <a:avLst/>
          </a:prstGeom>
          <a:solidFill>
            <a:srgbClr val="3F7D54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3653790"/>
            <a:ext cx="52686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13647" y="3653790"/>
            <a:ext cx="47897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39500" y="3653790"/>
            <a:ext cx="67056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5029200"/>
            <a:ext cx="163830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4404360"/>
            <a:ext cx="526861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313647" y="4404360"/>
            <a:ext cx="478978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Fevereiro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239500" y="4404360"/>
            <a:ext cx="67056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levantamento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52500" y="5928360"/>
            <a:ext cx="163830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5303520"/>
            <a:ext cx="526861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13647" y="5303520"/>
            <a:ext cx="478978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239500" y="5303520"/>
            <a:ext cx="67056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e modelo de dados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2500" y="6827520"/>
            <a:ext cx="163830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6202680"/>
            <a:ext cx="526861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313647" y="6202680"/>
            <a:ext cx="478978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 a maio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239500" y="6202680"/>
            <a:ext cx="67056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mínima funcional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52500" y="7726680"/>
            <a:ext cx="163830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7101840"/>
            <a:ext cx="526861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13647" y="7101840"/>
            <a:ext cx="478978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239500" y="7101840"/>
            <a:ext cx="67056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ajustes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52500" y="8625840"/>
            <a:ext cx="163830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8001000"/>
            <a:ext cx="526861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13647" y="8001000"/>
            <a:ext cx="478978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Julho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239500" y="8001000"/>
            <a:ext cx="67056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delimitada em operação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2500" y="8900160"/>
            <a:ext cx="526861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Divulgação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313647" y="8900160"/>
            <a:ext cx="4789789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1239500" y="8900160"/>
            <a:ext cx="67056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3F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educativo aplicado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EA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ORÇAMENTO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6600" spc="-99" kern="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Quanto custa manter o sistema no ar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52500" y="6359843"/>
            <a:ext cx="5645706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5902643"/>
            <a:ext cx="58150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ZERO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6615113"/>
            <a:ext cx="6210277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89"/>
              </a:lnSpc>
              <a:buNone/>
            </a:pPr>
            <a:r>
              <a:rPr lang="en-US" sz="232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e PostGIS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952500" y="7246620"/>
            <a:ext cx="6210277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89"/>
              </a:lnSpc>
              <a:buNone/>
            </a:pPr>
            <a:r>
              <a:rPr lang="en-US" sz="232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952500" y="7878128"/>
            <a:ext cx="6210277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89"/>
              </a:lnSpc>
              <a:buNone/>
            </a:pPr>
            <a:r>
              <a:rPr lang="en-US" sz="232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952500" y="8509635"/>
            <a:ext cx="6210277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89"/>
              </a:lnSpc>
              <a:buNone/>
            </a:pPr>
            <a:r>
              <a:rPr lang="en-US" sz="232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do LIRAa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952500" y="9141143"/>
            <a:ext cx="6210277" cy="421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489"/>
              </a:lnSpc>
              <a:buNone/>
            </a:pPr>
            <a:r>
              <a:rPr lang="en-US" sz="2325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de mensagens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7455456" y="6359843"/>
            <a:ext cx="9880045" cy="9525"/>
          </a:xfrm>
          <a:prstGeom prst="rect">
            <a:avLst/>
          </a:prstGeom>
          <a:solidFill>
            <a:srgbClr val="3F7D54"/>
          </a:solidFill>
          <a:ln/>
        </p:spPr>
      </p:sp>
      <p:sp>
        <p:nvSpPr>
          <p:cNvPr id="12" name="Text 10"/>
          <p:cNvSpPr/>
          <p:nvPr/>
        </p:nvSpPr>
        <p:spPr>
          <a:xfrm>
            <a:off x="7455456" y="5902643"/>
            <a:ext cx="67171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3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PREVISTO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03677" y="5902643"/>
            <a:ext cx="37318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288" kern="0" dirty="0">
                <a:solidFill>
                  <a:srgbClr val="3F7D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55456" y="7533323"/>
            <a:ext cx="9880045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15" name="Text 13"/>
          <p:cNvSpPr/>
          <p:nvPr/>
        </p:nvSpPr>
        <p:spPr>
          <a:xfrm>
            <a:off x="7455456" y="6615113"/>
            <a:ext cx="6289672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Hospedagem e banco, US$ 5 por mês em 12 meses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3841157" y="6615113"/>
            <a:ext cx="3494344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R$ 330,00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7455456" y="8371523"/>
            <a:ext cx="9880045" cy="9525"/>
          </a:xfrm>
          <a:prstGeom prst="rect">
            <a:avLst/>
          </a:prstGeom>
          <a:solidFill>
            <a:srgbClr val="BCD0BA"/>
          </a:solidFill>
          <a:ln/>
        </p:spPr>
      </p:sp>
      <p:sp>
        <p:nvSpPr>
          <p:cNvPr id="18" name="Text 16"/>
          <p:cNvSpPr/>
          <p:nvPr/>
        </p:nvSpPr>
        <p:spPr>
          <a:xfrm>
            <a:off x="7455456" y="7788593"/>
            <a:ext cx="6717126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Domínio e material do piloto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603677" y="7788593"/>
            <a:ext cx="373182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R$ 100,00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455456" y="8664893"/>
            <a:ext cx="671712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3603677" y="8664893"/>
            <a:ext cx="3731824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85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R$ 430,00</a:t>
            </a:r>
            <a:endParaRPr lang="en-US" sz="2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5A6F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REFERENCIAL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638300"/>
            <a:ext cx="1802130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00"/>
              </a:lnSpc>
              <a:buNone/>
            </a:pPr>
            <a:r>
              <a:rPr lang="en-US" sz="6600" spc="-99" kern="0" dirty="0">
                <a:solidFill>
                  <a:srgbClr val="1B3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Referencial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52500" y="3855720"/>
            <a:ext cx="142875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416814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NAÇÕES UNIDAS BRASIL. Objetivo de Desenvolvimento Sustentável 3: Saúde e Bem-Estar. Disponível em: brasil.un.org/pt-br/sdgs/3.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" y="5273040"/>
            <a:ext cx="142875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558546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Ministério da Saúde. Levantamento Rápido de Índices para Aedes aegypti (LIRAa). Disponível em: gov.br/saude.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6690360"/>
            <a:ext cx="142875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700278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PODER360. Dengue bate recorde em 2024 com 6,6 mi de casos e 6.022 mortes. Dados do Ministério da Saúde.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52500" y="8107680"/>
            <a:ext cx="14287500" cy="9525"/>
          </a:xfrm>
          <a:prstGeom prst="rect">
            <a:avLst/>
          </a:prstGeom>
          <a:solidFill>
            <a:srgbClr val="C3D6C1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842010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2100" dirty="0">
                <a:solidFill>
                  <a:srgbClr val="2B4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AGÊNCIA BRASIL. Casos de dengue no Brasil caem 75% em 2026. Publicado em 15 abr. 2026. Dados do Ministério da Saúde.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2026-09-02T21:15:39Z</dcterms:created>
  <dcterms:modified xsi:type="dcterms:W3CDTF">2026-09-02T21:15:39Z</dcterms:modified>
</cp:coreProperties>
</file>